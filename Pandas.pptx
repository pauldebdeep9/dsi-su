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6" r:id="rId3"/>
    <p:sldId id="264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/>
    <p:restoredTop sz="93296"/>
  </p:normalViewPr>
  <p:slideViewPr>
    <p:cSldViewPr snapToGrid="0">
      <p:cViewPr varScale="1">
        <p:scale>
          <a:sx n="99" d="100"/>
          <a:sy n="99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8A5B8-C516-B34B-BD10-CB4327DCFE48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9EFAA-00A8-FA45-BED4-5EBAD32A1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3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7E54-D300-87C5-4385-005B0F7A6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1AD4D-9A73-DAEA-32F8-44ABEA84B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8C33B-DAB0-EB84-C879-8B9A1C2F9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3943A-60BD-01D2-5B28-0A65F557E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9EFAA-00A8-FA45-BED4-5EBAD32A17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8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5144-3CF3-980B-CDE1-E8FCE5817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383A3-D6D4-D8AF-ED10-D2C262C2B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8F63B-C625-C8D7-50F0-02D7BAF45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F2498-8084-2318-C363-6C9FD885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90B70-F351-597E-DEA6-3881F781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205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ED6B-C637-D8AC-F60C-A0124870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A36A-8545-60D8-5FD8-22EF2C235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EB4F-39D2-846D-ABB2-9DF2C14FF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0EC72-92C1-B1DF-9813-9EEDB996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F20B1-CEA5-2434-C722-C8D5E521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118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BFAD-31B0-1279-FC2A-8B0F499D7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D1A37-40C4-3ADE-5D2C-B8B2FCEC8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B031-A4B9-A123-C75E-BC1B0F9ED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B9FB3-E546-79B8-85AB-A663FFF6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9B0EA-86F2-4598-59C3-D35824F7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422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1D3E-BEE8-8A02-6BA5-306FE75E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CACBD-F1DB-679C-2122-2CA4B54A3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98A48-6997-FE4F-0391-89228C3BF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6BCEE-4779-EDD0-6A04-17D6A29E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5F512-FD9C-DD16-BCC7-FFD7E536F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4C267-23D4-CE8E-C830-212231AF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492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5A4B-CCEC-B64A-B818-175E60AA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5F89B-71E4-0157-D981-9E7A70F45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79323-FFE9-F7F9-3F8A-C52C48ED7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C0FF1-7863-EDA9-CFF3-8C48AFA09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D294A-72D0-57B8-DC26-2B0052D6A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D82AE-13C2-0D5B-B3E5-F8EBF0CC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C077BF-9014-4F7F-3B95-89B451EF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DD6E2-4179-E62F-454B-BE17531B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69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809F-027F-670B-1FC6-E2613EEC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6A69D-BCC5-10F0-CAEC-89958213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F1CD8-3496-5EB2-E7F0-D3A4C0D9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3228A-2CA1-C345-4758-DC6271AA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754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7E4C1-0BE2-B1DE-9899-C351206CB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16DF8-247B-86E1-F253-BE84138C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673D5-268C-4CBF-A3C4-36EF86ED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440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87C9-852F-923F-6C80-16CA1E69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147C-F7EC-437D-83D3-052B5C920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5D7BC-A66F-E06F-2557-692213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98246-2B8B-8A6E-B691-6C5AE02F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4C1D0-276D-4D53-BE30-9598032C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96600-52BC-F034-8E20-BA4687B5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62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94A6-10DA-156D-B52D-863CC03A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922EE-3DEA-22DC-9272-89A1DE33B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2020F-82F4-9C11-ABCA-FF40CB344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116B1-3DA4-CBFF-B52E-F8AB8B11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DBF4E-3380-DB07-930A-6BFCB5247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56C55-7269-4A8E-754A-18B98BE1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358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CA90-3AE2-0729-E84C-9CC1B991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AC304-96E2-7091-55ED-6C096F84F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E23C3-0DF3-7E4A-405E-3C4F1849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1F5E5-0803-9609-E49B-5D6FE00D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59FF-7960-5FF5-A025-62B898CC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174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4B532B-4217-D492-664E-DCA9145D0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5C45A-93DC-5121-66AB-B4A0A0F43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A3AAC-6624-470B-F695-F98BDD1A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D32AC-FE6D-872D-C52E-7CB86F51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6485-DA47-6B1D-8B50-E25D0E53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985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78814-D04A-3111-6676-0BDB23BD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0C771-10EB-9B2F-1DA0-2E0AC6D8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36D4A-C9D2-5066-4305-9CC27AD09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A9D63-F2CF-4454-BB95-38A1B0162109}" type="datetimeFigureOut">
              <a:rPr lang="en-SG" smtClean="0"/>
              <a:t>3/11/25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95A97-9F43-22FC-2502-9EEBBC6A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B3541-A90D-0231-B166-A5AE7FBC5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1EBE2-78D8-4689-B2BE-8A904EC7805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621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7CE9-ADCA-254F-D831-D136B5BCE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0066"/>
            <a:ext cx="9144000" cy="2387600"/>
          </a:xfrm>
        </p:spPr>
        <p:txBody>
          <a:bodyPr/>
          <a:lstStyle/>
          <a:p>
            <a:r>
              <a:rPr lang="en-SG" dirty="0"/>
              <a:t>Pandas: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98AA5-16BC-8AC5-9193-5E5872C2E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r>
              <a:rPr lang="en-SG" dirty="0"/>
              <a:t>09-Nov-25</a:t>
            </a:r>
          </a:p>
        </p:txBody>
      </p:sp>
    </p:spTree>
    <p:extLst>
      <p:ext uri="{BB962C8B-B14F-4D97-AF65-F5344CB8AC3E}">
        <p14:creationId xmlns:p14="http://schemas.microsoft.com/office/powerpoint/2010/main" val="504708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A50B-BFE0-1D5E-ACB1-7F1A55C0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0282-D831-EAA9-F752-51DD0206D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007"/>
            <a:ext cx="10515600" cy="925793"/>
          </a:xfrm>
        </p:spPr>
        <p:txBody>
          <a:bodyPr>
            <a:normAutofit/>
          </a:bodyPr>
          <a:lstStyle/>
          <a:p>
            <a:r>
              <a:rPr lang="en-SG" dirty="0"/>
              <a:t>Background</a:t>
            </a:r>
          </a:p>
        </p:txBody>
      </p:sp>
      <p:sp>
        <p:nvSpPr>
          <p:cNvPr id="6" name="Pentagon 3">
            <a:extLst>
              <a:ext uri="{FF2B5EF4-FFF2-40B4-BE49-F238E27FC236}">
                <a16:creationId xmlns:a16="http://schemas.microsoft.com/office/drawing/2014/main" id="{80755CCB-1EFA-2362-F932-5E747A27DBF8}"/>
              </a:ext>
            </a:extLst>
          </p:cNvPr>
          <p:cNvSpPr/>
          <p:nvPr/>
        </p:nvSpPr>
        <p:spPr>
          <a:xfrm rot="16200000">
            <a:off x="585003" y="5595254"/>
            <a:ext cx="1006447" cy="1369044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Pentagon 3">
            <a:extLst>
              <a:ext uri="{FF2B5EF4-FFF2-40B4-BE49-F238E27FC236}">
                <a16:creationId xmlns:a16="http://schemas.microsoft.com/office/drawing/2014/main" id="{9F62EF4F-4CA6-7169-FB85-7D15DF0C2B21}"/>
              </a:ext>
            </a:extLst>
          </p:cNvPr>
          <p:cNvSpPr/>
          <p:nvPr/>
        </p:nvSpPr>
        <p:spPr>
          <a:xfrm rot="16200000">
            <a:off x="589374" y="4382627"/>
            <a:ext cx="1006447" cy="1369044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Pentagon 3">
            <a:extLst>
              <a:ext uri="{FF2B5EF4-FFF2-40B4-BE49-F238E27FC236}">
                <a16:creationId xmlns:a16="http://schemas.microsoft.com/office/drawing/2014/main" id="{1255EF17-39D0-0B48-435D-062C20833781}"/>
              </a:ext>
            </a:extLst>
          </p:cNvPr>
          <p:cNvSpPr/>
          <p:nvPr/>
        </p:nvSpPr>
        <p:spPr>
          <a:xfrm rot="16200000">
            <a:off x="597435" y="3180133"/>
            <a:ext cx="1006447" cy="1369044"/>
          </a:xfrm>
          <a:prstGeom prst="homePlate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Pentagon 3">
            <a:extLst>
              <a:ext uri="{FF2B5EF4-FFF2-40B4-BE49-F238E27FC236}">
                <a16:creationId xmlns:a16="http://schemas.microsoft.com/office/drawing/2014/main" id="{42FA53E7-7908-5F8D-F706-CE57D6283FAF}"/>
              </a:ext>
            </a:extLst>
          </p:cNvPr>
          <p:cNvSpPr/>
          <p:nvPr/>
        </p:nvSpPr>
        <p:spPr>
          <a:xfrm rot="16200000">
            <a:off x="642045" y="2047337"/>
            <a:ext cx="1006447" cy="1369044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Pentagon 3">
            <a:extLst>
              <a:ext uri="{FF2B5EF4-FFF2-40B4-BE49-F238E27FC236}">
                <a16:creationId xmlns:a16="http://schemas.microsoft.com/office/drawing/2014/main" id="{6C34B993-F0B4-9374-FBCA-97279D661247}"/>
              </a:ext>
            </a:extLst>
          </p:cNvPr>
          <p:cNvSpPr/>
          <p:nvPr/>
        </p:nvSpPr>
        <p:spPr>
          <a:xfrm rot="16200000">
            <a:off x="659782" y="906403"/>
            <a:ext cx="1006447" cy="1369044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2" descr="National Institute of Technology, Durgapur - Wikipedia">
            <a:extLst>
              <a:ext uri="{FF2B5EF4-FFF2-40B4-BE49-F238E27FC236}">
                <a16:creationId xmlns:a16="http://schemas.microsoft.com/office/drawing/2014/main" id="{FA6FA363-62AF-2992-A879-3EE1B8722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08" y="6045471"/>
            <a:ext cx="808066" cy="706520"/>
          </a:xfrm>
          <a:prstGeom prst="rect">
            <a:avLst/>
          </a:prstGeom>
          <a:gradFill>
            <a:gsLst>
              <a:gs pos="700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12" name="Picture 4" descr="Tata Motors Logo Meaning and History [Tata Motors symbol]">
            <a:extLst>
              <a:ext uri="{FF2B5EF4-FFF2-40B4-BE49-F238E27FC236}">
                <a16:creationId xmlns:a16="http://schemas.microsoft.com/office/drawing/2014/main" id="{DE4FAD31-E43E-6D7C-B5F3-95A2644D9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04" y="4948800"/>
            <a:ext cx="933034" cy="594809"/>
          </a:xfrm>
          <a:prstGeom prst="rect">
            <a:avLst/>
          </a:prstGeom>
          <a:gradFill>
            <a:gsLst>
              <a:gs pos="700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13" name="Picture 6" descr="Nanyang Technological University - NTU Singapore">
            <a:extLst>
              <a:ext uri="{FF2B5EF4-FFF2-40B4-BE49-F238E27FC236}">
                <a16:creationId xmlns:a16="http://schemas.microsoft.com/office/drawing/2014/main" id="{9050EBC0-B186-7051-9460-A95D7C0C98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6" t="14285" r="18330" b="22425"/>
          <a:stretch/>
        </p:blipFill>
        <p:spPr bwMode="auto">
          <a:xfrm>
            <a:off x="448098" y="3866881"/>
            <a:ext cx="1280254" cy="490865"/>
          </a:xfrm>
          <a:prstGeom prst="rect">
            <a:avLst/>
          </a:prstGeom>
          <a:gradFill>
            <a:gsLst>
              <a:gs pos="700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14" name="Picture 10" descr="Singapore Institute of Manufacturing Technology (SIMTech)">
            <a:extLst>
              <a:ext uri="{FF2B5EF4-FFF2-40B4-BE49-F238E27FC236}">
                <a16:creationId xmlns:a16="http://schemas.microsoft.com/office/drawing/2014/main" id="{7A0A7B06-AADC-533B-D430-704143B07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78" y="2743228"/>
            <a:ext cx="1267179" cy="468617"/>
          </a:xfrm>
          <a:prstGeom prst="rect">
            <a:avLst/>
          </a:prstGeom>
          <a:gradFill>
            <a:gsLst>
              <a:gs pos="700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15" name="Picture 12" descr="Home - Panasonic">
            <a:extLst>
              <a:ext uri="{FF2B5EF4-FFF2-40B4-BE49-F238E27FC236}">
                <a16:creationId xmlns:a16="http://schemas.microsoft.com/office/drawing/2014/main" id="{E43FE1EB-3E0C-4BB4-E380-E5D955C7E0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t="12234" r="5236" b="10865"/>
          <a:stretch/>
        </p:blipFill>
        <p:spPr bwMode="auto">
          <a:xfrm>
            <a:off x="519484" y="1688291"/>
            <a:ext cx="1257363" cy="365816"/>
          </a:xfrm>
          <a:prstGeom prst="rect">
            <a:avLst/>
          </a:prstGeom>
          <a:gradFill>
            <a:gsLst>
              <a:gs pos="700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7AC4480-30F7-FBF3-B9F5-1E7D84CB909A}"/>
              </a:ext>
            </a:extLst>
          </p:cNvPr>
          <p:cNvSpPr/>
          <p:nvPr/>
        </p:nvSpPr>
        <p:spPr>
          <a:xfrm>
            <a:off x="179777" y="2149995"/>
            <a:ext cx="663802" cy="2396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2019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D6A9F37-D16B-0521-63A2-4EE35C518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359" y="1030149"/>
            <a:ext cx="9903838" cy="1198486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latin typeface="+mn-lt"/>
              </a:rPr>
              <a:t>PIDSG: Development and deployment </a:t>
            </a:r>
            <a:r>
              <a:rPr lang="en-US" sz="1600" dirty="0"/>
              <a:t>of GenAI/AI/Agentic services across businesses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latin typeface="+mn-lt"/>
              </a:rPr>
              <a:t>CI/CD, AIOps, </a:t>
            </a:r>
            <a:r>
              <a:rPr lang="en-US" sz="1600" b="0" dirty="0" err="1">
                <a:latin typeface="+mn-lt"/>
              </a:rPr>
              <a:t>MLOps</a:t>
            </a:r>
            <a:r>
              <a:rPr lang="en-US" sz="1600" b="0" dirty="0">
                <a:latin typeface="+mn-lt"/>
              </a:rPr>
              <a:t>, pipelines for production workload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latin typeface="+mn-lt"/>
              </a:rPr>
              <a:t>Solution architecture for production deployment at scale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Cloud migration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0" dirty="0">
                <a:latin typeface="+mn-lt"/>
              </a:rPr>
              <a:t>Technology development</a:t>
            </a:r>
            <a:r>
              <a:rPr lang="en-US" sz="1600" dirty="0"/>
              <a:t>- research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b="0" dirty="0">
              <a:latin typeface="+mn-lt"/>
            </a:endParaRPr>
          </a:p>
          <a:p>
            <a:pPr marL="0" indent="0">
              <a:spcBef>
                <a:spcPts val="0"/>
              </a:spcBef>
              <a:buNone/>
            </a:pPr>
            <a:endParaRPr lang="en-SG" sz="1600" b="0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C8B477-2178-A7EA-571E-B5C9499D6DDF}"/>
              </a:ext>
            </a:extLst>
          </p:cNvPr>
          <p:cNvSpPr txBox="1"/>
          <p:nvPr/>
        </p:nvSpPr>
        <p:spPr>
          <a:xfrm>
            <a:off x="2004770" y="4029325"/>
            <a:ext cx="8044820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latin typeface="+mn-lt"/>
              </a:rPr>
              <a:t>PhD degree from NTU</a:t>
            </a:r>
            <a:r>
              <a:rPr lang="en-US" sz="1600" b="0" dirty="0">
                <a:latin typeface="+mn-lt"/>
              </a:rPr>
              <a:t>: Energy aware job scheduling, cost reduction for green data centers</a:t>
            </a:r>
            <a:endParaRPr lang="en-US" sz="1600" dirty="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14B91E-B18C-1054-9120-8D5FA9AD775A}"/>
              </a:ext>
            </a:extLst>
          </p:cNvPr>
          <p:cNvSpPr txBox="1"/>
          <p:nvPr/>
        </p:nvSpPr>
        <p:spPr>
          <a:xfrm>
            <a:off x="2043778" y="2366838"/>
            <a:ext cx="7654014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0" dirty="0">
                <a:latin typeface="+mn-lt"/>
              </a:rPr>
              <a:t>Data scientist: AI/ML technology in </a:t>
            </a:r>
            <a:r>
              <a:rPr lang="en-US" sz="1600" dirty="0">
                <a:latin typeface="+mn-lt"/>
              </a:rPr>
              <a:t>inventory, lead time-pricing management</a:t>
            </a:r>
            <a:r>
              <a:rPr lang="en-US" sz="1600" b="1" dirty="0">
                <a:latin typeface="+mn-lt"/>
              </a:rPr>
              <a:t>,</a:t>
            </a:r>
            <a:r>
              <a:rPr lang="en-US" sz="1600" b="0" dirty="0">
                <a:latin typeface="+mn-lt"/>
              </a:rPr>
              <a:t> supply chain risk, last mile logistics </a:t>
            </a:r>
          </a:p>
          <a:p>
            <a:pPr marL="0" indent="0">
              <a:buNone/>
            </a:pPr>
            <a:r>
              <a:rPr lang="en-US" sz="1600" dirty="0">
                <a:latin typeface="+mn-lt"/>
              </a:rPr>
              <a:t>Developed a travel time prediction module for routing and delivery solution for local companies</a:t>
            </a:r>
          </a:p>
          <a:p>
            <a:pPr marL="0" indent="0">
              <a:buNone/>
            </a:pPr>
            <a:r>
              <a:rPr lang="en-US" sz="1600" b="0" dirty="0"/>
              <a:t>Insurance risk modeling and pricing through AI/ML</a:t>
            </a:r>
            <a:endParaRPr lang="en-US" sz="1600" b="0" dirty="0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52F729-C319-B09C-F134-C621DE31699D}"/>
              </a:ext>
            </a:extLst>
          </p:cNvPr>
          <p:cNvSpPr txBox="1"/>
          <p:nvPr/>
        </p:nvSpPr>
        <p:spPr>
          <a:xfrm>
            <a:off x="1988213" y="4898772"/>
            <a:ext cx="8077934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0" dirty="0">
                <a:latin typeface="+mn-lt"/>
              </a:rPr>
              <a:t>Tata Motors: Quality management- customer complaint reduction, product/process audit, change management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1B05FC-6B05-8CD7-ACFF-12E4DE5B72DE}"/>
              </a:ext>
            </a:extLst>
          </p:cNvPr>
          <p:cNvSpPr txBox="1"/>
          <p:nvPr/>
        </p:nvSpPr>
        <p:spPr>
          <a:xfrm>
            <a:off x="1988213" y="6060607"/>
            <a:ext cx="8077934" cy="338554"/>
          </a:xfrm>
          <a:prstGeom prst="rect">
            <a:avLst/>
          </a:prstGeom>
          <a:solidFill>
            <a:srgbClr val="CCECFF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0" dirty="0">
                <a:latin typeface="+mn-lt"/>
              </a:rPr>
              <a:t>Electronics and Communication Engineering</a:t>
            </a:r>
            <a:endParaRPr lang="en-US" sz="1600" b="1" dirty="0">
              <a:latin typeface="+mn-lt"/>
            </a:endParaRPr>
          </a:p>
        </p:txBody>
      </p:sp>
      <p:pic>
        <p:nvPicPr>
          <p:cNvPr id="22" name="Picture 21" descr="A person in a blue jacket&#10;&#10;Description automatically generated">
            <a:extLst>
              <a:ext uri="{FF2B5EF4-FFF2-40B4-BE49-F238E27FC236}">
                <a16:creationId xmlns:a16="http://schemas.microsoft.com/office/drawing/2014/main" id="{BF0B9B19-8D7B-17EE-49C6-E194F0BDC75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222" y="2746980"/>
            <a:ext cx="1775664" cy="181217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8D43152-5612-34A3-6212-32C7BB056714}"/>
              </a:ext>
            </a:extLst>
          </p:cNvPr>
          <p:cNvSpPr/>
          <p:nvPr/>
        </p:nvSpPr>
        <p:spPr>
          <a:xfrm>
            <a:off x="187583" y="3298197"/>
            <a:ext cx="663802" cy="2396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2016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174F31-D7F0-A60F-4990-57685027EC8F}"/>
              </a:ext>
            </a:extLst>
          </p:cNvPr>
          <p:cNvSpPr/>
          <p:nvPr/>
        </p:nvSpPr>
        <p:spPr>
          <a:xfrm>
            <a:off x="187583" y="4454640"/>
            <a:ext cx="663802" cy="2396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2012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01437A-3937-8956-F6C1-F259F9FA648A}"/>
              </a:ext>
            </a:extLst>
          </p:cNvPr>
          <p:cNvSpPr/>
          <p:nvPr/>
        </p:nvSpPr>
        <p:spPr>
          <a:xfrm>
            <a:off x="187583" y="5691232"/>
            <a:ext cx="663802" cy="2396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2008</a:t>
            </a:r>
          </a:p>
        </p:txBody>
      </p:sp>
    </p:spTree>
    <p:extLst>
      <p:ext uri="{BB962C8B-B14F-4D97-AF65-F5344CB8AC3E}">
        <p14:creationId xmlns:p14="http://schemas.microsoft.com/office/powerpoint/2010/main" val="62039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ED64-9516-AE56-7799-7E3DD6385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007"/>
            <a:ext cx="10515600" cy="925793"/>
          </a:xfrm>
        </p:spPr>
        <p:txBody>
          <a:bodyPr>
            <a:normAutofit/>
          </a:bodyPr>
          <a:lstStyle/>
          <a:p>
            <a:r>
              <a:rPr lang="en-SG" dirty="0"/>
              <a:t>Learning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1067-61E0-8AD9-3FE1-7CCC97B8D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666" y="1298128"/>
            <a:ext cx="10515600" cy="4348910"/>
          </a:xfrm>
        </p:spPr>
        <p:txBody>
          <a:bodyPr>
            <a:noAutofit/>
          </a:bodyPr>
          <a:lstStyle/>
          <a:p>
            <a:r>
              <a:rPr lang="en-SG" sz="1800" dirty="0"/>
              <a:t>Equip learners to transform messy retail transaction data into trustworthy, analysis-ready tables using pandas, building intuition from data discovery through feature preparation.</a:t>
            </a:r>
          </a:p>
          <a:p>
            <a:r>
              <a:rPr lang="en-SG" sz="1800" dirty="0"/>
              <a:t>Demonstrate how a Singapore retail analytics scenario maps onto pandas workflows so students see immediate, local relevance.</a:t>
            </a:r>
          </a:p>
          <a:p>
            <a:pPr marL="0" indent="0">
              <a:buNone/>
            </a:pPr>
            <a:br>
              <a:rPr lang="en-SG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938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945B-01AC-615E-C79E-853DA0AF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8229-3112-5378-801C-6D7E2437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007"/>
            <a:ext cx="10515600" cy="925793"/>
          </a:xfrm>
        </p:spPr>
        <p:txBody>
          <a:bodyPr>
            <a:normAutofit/>
          </a:bodyPr>
          <a:lstStyle/>
          <a:p>
            <a:r>
              <a:rPr lang="en-SG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5B044-6AB1-07A6-BB05-04F61D7AC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666" y="1298128"/>
            <a:ext cx="10515600" cy="4348910"/>
          </a:xfrm>
        </p:spPr>
        <p:txBody>
          <a:bodyPr>
            <a:noAutofit/>
          </a:bodyPr>
          <a:lstStyle/>
          <a:p>
            <a:r>
              <a:rPr lang="en-SG" sz="1800" dirty="0"/>
              <a:t>Interpret the structure and relationships of customers, orders, and sales tables and choose joins that preserve business meaning.</a:t>
            </a:r>
          </a:p>
          <a:p>
            <a:r>
              <a:rPr lang="en-SG" sz="1800" dirty="0"/>
              <a:t>Diagnose data quality issues via .info(), .describe(), null/duplicate checks, and exploratory visualizations.</a:t>
            </a:r>
          </a:p>
          <a:p>
            <a:r>
              <a:rPr lang="en-SG" sz="1800" dirty="0"/>
              <a:t>Apply core transformation patterns—filter/sort, assign, </a:t>
            </a:r>
            <a:r>
              <a:rPr lang="en-SG" sz="1800" dirty="0" err="1"/>
              <a:t>groupby</a:t>
            </a:r>
            <a:r>
              <a:rPr lang="en-SG" sz="1800" dirty="0"/>
              <a:t>/aggregate, pivot/melt, window, and time-series operations—to answer stakeholder questions.</a:t>
            </a:r>
          </a:p>
          <a:p>
            <a:r>
              <a:rPr lang="en-SG" sz="1800" dirty="0"/>
              <a:t>Design a reproducible cleaning pipeline (string normalization, type coercion, imputation, outlier handling) and validate each step.</a:t>
            </a:r>
          </a:p>
          <a:p>
            <a:r>
              <a:rPr lang="en-SG" sz="1800" dirty="0"/>
              <a:t>Persist cleaned data and insights to multiple formats (CSV, Parquet, Excel) with best practices for performance.</a:t>
            </a:r>
          </a:p>
          <a:p>
            <a:pPr marL="0" indent="0">
              <a:buNone/>
            </a:pPr>
            <a:br>
              <a:rPr lang="en-SG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422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A5025-DB9A-2EB0-AD6B-CFB2DEB3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A47DB-746A-E946-C47D-EE96BB15F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007"/>
            <a:ext cx="10515600" cy="925793"/>
          </a:xfrm>
        </p:spPr>
        <p:txBody>
          <a:bodyPr>
            <a:normAutofit/>
          </a:bodyPr>
          <a:lstStyle/>
          <a:p>
            <a:r>
              <a:rPr lang="en-SG" dirty="0"/>
              <a:t>Key Functions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98E1A-31EE-0F14-CB78-B3F4E9A48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666" y="1298128"/>
            <a:ext cx="10515600" cy="4348910"/>
          </a:xfrm>
        </p:spPr>
        <p:txBody>
          <a:bodyPr>
            <a:noAutofit/>
          </a:bodyPr>
          <a:lstStyle/>
          <a:p>
            <a:r>
              <a:rPr lang="en-SG" sz="1800" dirty="0"/>
              <a:t>Data discovery: head, tail, sample, info, describe, </a:t>
            </a:r>
            <a:r>
              <a:rPr lang="en-SG" sz="1800" dirty="0" err="1"/>
              <a:t>value_counts</a:t>
            </a:r>
            <a:r>
              <a:rPr lang="en-SG" sz="1800" dirty="0"/>
              <a:t>, </a:t>
            </a:r>
            <a:r>
              <a:rPr lang="en-SG" sz="1800" dirty="0" err="1"/>
              <a:t>isnull</a:t>
            </a:r>
            <a:r>
              <a:rPr lang="en-SG" sz="1800" dirty="0"/>
              <a:t>, duplicated.</a:t>
            </a:r>
          </a:p>
          <a:p>
            <a:r>
              <a:rPr lang="en-SG" sz="1800" dirty="0" err="1"/>
              <a:t>Subsetting</a:t>
            </a:r>
            <a:r>
              <a:rPr lang="en-SG" sz="1800" dirty="0"/>
              <a:t> &amp; shaping: </a:t>
            </a:r>
            <a:r>
              <a:rPr lang="en-SG" sz="1800" dirty="0" err="1"/>
              <a:t>boolean</a:t>
            </a:r>
            <a:r>
              <a:rPr lang="en-SG" sz="1800" dirty="0"/>
              <a:t> masks, .loc/.</a:t>
            </a:r>
            <a:r>
              <a:rPr lang="en-SG" sz="1800" dirty="0" err="1"/>
              <a:t>iloc</a:t>
            </a:r>
            <a:r>
              <a:rPr lang="en-SG" sz="1800" dirty="0"/>
              <a:t>, assign, rename, </a:t>
            </a:r>
            <a:r>
              <a:rPr lang="en-SG" sz="1800" dirty="0" err="1"/>
              <a:t>sort_values</a:t>
            </a:r>
            <a:r>
              <a:rPr lang="en-SG" sz="1800" dirty="0"/>
              <a:t>, drop, </a:t>
            </a:r>
            <a:r>
              <a:rPr lang="en-SG" sz="1800" dirty="0" err="1"/>
              <a:t>drop_duplicates</a:t>
            </a:r>
            <a:r>
              <a:rPr lang="en-SG" sz="1800" dirty="0"/>
              <a:t>.</a:t>
            </a:r>
          </a:p>
          <a:p>
            <a:r>
              <a:rPr lang="en-SG" sz="1800" dirty="0"/>
              <a:t>Aggregations: </a:t>
            </a:r>
            <a:r>
              <a:rPr lang="en-SG" sz="1800" dirty="0" err="1"/>
              <a:t>groupby</a:t>
            </a:r>
            <a:r>
              <a:rPr lang="en-SG" sz="1800" dirty="0"/>
              <a:t> with </a:t>
            </a:r>
            <a:r>
              <a:rPr lang="en-SG" sz="1800" dirty="0" err="1"/>
              <a:t>agg</a:t>
            </a:r>
            <a:r>
              <a:rPr lang="en-SG" sz="1800" dirty="0"/>
              <a:t>, transform, custom lambdas, chaining (pipe).</a:t>
            </a:r>
          </a:p>
          <a:p>
            <a:r>
              <a:rPr lang="en-SG" sz="1800" dirty="0"/>
              <a:t>Reshaping: </a:t>
            </a:r>
            <a:r>
              <a:rPr lang="en-SG" sz="1800" dirty="0" err="1"/>
              <a:t>pivot_table</a:t>
            </a:r>
            <a:r>
              <a:rPr lang="en-SG" sz="1800" dirty="0"/>
              <a:t>, melt, stack/unstack, crosstab.</a:t>
            </a:r>
          </a:p>
          <a:p>
            <a:r>
              <a:rPr lang="en-SG" sz="1800" dirty="0"/>
              <a:t>Joins: merge (inner/left/right), multi-key merges, anti-joins via indicator.</a:t>
            </a:r>
          </a:p>
          <a:p>
            <a:r>
              <a:rPr lang="en-SG" sz="1800" dirty="0"/>
              <a:t>Window &amp; time series: rolling, expanding, .dt accessor, resampling (resample, </a:t>
            </a:r>
            <a:r>
              <a:rPr lang="en-SG" sz="1800" dirty="0" err="1"/>
              <a:t>asfreq</a:t>
            </a:r>
            <a:r>
              <a:rPr lang="en-SG" sz="1800" dirty="0"/>
              <a:t>).</a:t>
            </a:r>
          </a:p>
          <a:p>
            <a:r>
              <a:rPr lang="en-SG" sz="1800" dirty="0"/>
              <a:t>Cleaning helpers: custom </a:t>
            </a:r>
            <a:r>
              <a:rPr lang="en-SG" sz="1800" dirty="0" err="1"/>
              <a:t>impute_dataframe</a:t>
            </a:r>
            <a:r>
              <a:rPr lang="en-SG" sz="1800" dirty="0"/>
              <a:t>, </a:t>
            </a:r>
            <a:r>
              <a:rPr lang="en-SG" sz="1800" dirty="0" err="1"/>
              <a:t>detect_outliers_iqr</a:t>
            </a:r>
            <a:r>
              <a:rPr lang="en-SG" sz="1800" dirty="0"/>
              <a:t>, </a:t>
            </a:r>
            <a:r>
              <a:rPr lang="en-SG" sz="1800" dirty="0" err="1"/>
              <a:t>clean_messy_data</a:t>
            </a:r>
            <a:r>
              <a:rPr lang="en-SG" sz="1800" dirty="0"/>
              <a:t>, </a:t>
            </a:r>
            <a:r>
              <a:rPr lang="en-SG" sz="1800" dirty="0" err="1"/>
              <a:t>validate_data</a:t>
            </a:r>
            <a:r>
              <a:rPr lang="en-SG" sz="1800" dirty="0"/>
              <a:t>.</a:t>
            </a:r>
          </a:p>
          <a:p>
            <a:r>
              <a:rPr lang="en-SG" sz="1800" dirty="0"/>
              <a:t>I/O &amp; performance: </a:t>
            </a:r>
            <a:r>
              <a:rPr lang="en-SG" sz="1800" dirty="0" err="1"/>
              <a:t>read_csv</a:t>
            </a:r>
            <a:r>
              <a:rPr lang="en-SG" sz="1800" dirty="0"/>
              <a:t>, </a:t>
            </a:r>
            <a:r>
              <a:rPr lang="en-SG" sz="1800" dirty="0" err="1"/>
              <a:t>read_parquet</a:t>
            </a:r>
            <a:r>
              <a:rPr lang="en-SG" sz="1800" dirty="0"/>
              <a:t>, </a:t>
            </a:r>
            <a:r>
              <a:rPr lang="en-SG" sz="1800" dirty="0" err="1"/>
              <a:t>to_csv</a:t>
            </a:r>
            <a:r>
              <a:rPr lang="en-SG" sz="1800" dirty="0"/>
              <a:t>, </a:t>
            </a:r>
            <a:r>
              <a:rPr lang="en-SG" sz="1800" dirty="0" err="1"/>
              <a:t>to_parquet</a:t>
            </a:r>
            <a:r>
              <a:rPr lang="en-SG" sz="1800" dirty="0"/>
              <a:t>, </a:t>
            </a:r>
            <a:r>
              <a:rPr lang="en-SG" sz="1800" dirty="0" err="1"/>
              <a:t>to_excel</a:t>
            </a:r>
            <a:r>
              <a:rPr lang="en-SG" sz="1800" dirty="0"/>
              <a:t>, </a:t>
            </a:r>
            <a:r>
              <a:rPr lang="en-SG" sz="1800" dirty="0" err="1"/>
              <a:t>convert_dtypes</a:t>
            </a:r>
            <a:r>
              <a:rPr lang="en-SG" sz="1800" dirty="0"/>
              <a:t>, </a:t>
            </a:r>
            <a:r>
              <a:rPr lang="en-SG" sz="1800" dirty="0" err="1"/>
              <a:t>memory_usage</a:t>
            </a:r>
            <a:r>
              <a:rPr lang="en-SG" sz="1800" dirty="0"/>
              <a:t>.</a:t>
            </a:r>
          </a:p>
          <a:p>
            <a:pPr marL="0" indent="0">
              <a:buNone/>
            </a:pPr>
            <a:br>
              <a:rPr lang="en-SG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8609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FB34F-F5B7-AF76-3937-EB166CA1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C224-BDC0-75E7-370A-2520B20E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007"/>
            <a:ext cx="10515600" cy="925793"/>
          </a:xfrm>
        </p:spPr>
        <p:txBody>
          <a:bodyPr>
            <a:normAutofit/>
          </a:bodyPr>
          <a:lstStyle/>
          <a:p>
            <a:r>
              <a:rPr lang="en-SG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CAEE0-32C0-CD92-8046-E25E548FB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666" y="1298128"/>
            <a:ext cx="10515600" cy="4348910"/>
          </a:xfrm>
        </p:spPr>
        <p:txBody>
          <a:bodyPr>
            <a:noAutofit/>
          </a:bodyPr>
          <a:lstStyle/>
          <a:p>
            <a:r>
              <a:rPr lang="en-SG" sz="1800" dirty="0"/>
              <a:t>Retail KPI dashboard: compute revenue, margin, and basket-size trends by store/segment, highlight anomalies for managers.</a:t>
            </a:r>
          </a:p>
          <a:p>
            <a:r>
              <a:rPr lang="en-SG" sz="1800" dirty="0"/>
              <a:t>Customer segmentation health check: join orders to customer attributes, surface dormant segments, and suggest retention campaigns.</a:t>
            </a:r>
          </a:p>
          <a:p>
            <a:r>
              <a:rPr lang="en-SG" sz="1800" dirty="0"/>
              <a:t>Promotion effectiveness: compare discount bands vs. uplift via time-window aggregations and rolling averages.</a:t>
            </a:r>
          </a:p>
          <a:p>
            <a:r>
              <a:rPr lang="en-SG" sz="1800" dirty="0"/>
              <a:t>Data-quality triage: standardize inconsistent source feeds, impute critical gaps, and flag outliers before ML feature extraction.</a:t>
            </a:r>
          </a:p>
          <a:p>
            <a:r>
              <a:rPr lang="en-SG" sz="1800"/>
              <a:t>Executive-ready exports: generate clean Excel/Parquet extracts for BI tools or downstream modeling teams.</a:t>
            </a:r>
            <a:endParaRPr lang="en-SG" sz="1800" dirty="0"/>
          </a:p>
          <a:p>
            <a:pPr marL="0" indent="0">
              <a:buNone/>
            </a:pPr>
            <a:br>
              <a:rPr lang="en-SG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495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563</Words>
  <Application>Microsoft Macintosh PowerPoint</Application>
  <PresentationFormat>Widescreen</PresentationFormat>
  <Paragraphs>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Pandas: </vt:lpstr>
      <vt:lpstr>Background</vt:lpstr>
      <vt:lpstr>Learning Objective</vt:lpstr>
      <vt:lpstr>Learning Outcomes</vt:lpstr>
      <vt:lpstr>Key Functions Covered</vt:lpstr>
      <vt:lpstr>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</dc:title>
  <dc:creator>paul_</dc:creator>
  <cp:lastModifiedBy>botapaul9</cp:lastModifiedBy>
  <cp:revision>31</cp:revision>
  <dcterms:created xsi:type="dcterms:W3CDTF">2022-11-08T11:57:54Z</dcterms:created>
  <dcterms:modified xsi:type="dcterms:W3CDTF">2025-11-03T14:33:43Z</dcterms:modified>
</cp:coreProperties>
</file>